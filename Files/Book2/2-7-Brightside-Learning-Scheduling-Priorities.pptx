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cde1e789004617" /><Relationship Type="http://schemas.openxmlformats.org/officeDocument/2006/relationships/extended-properties" Target="/docProps/app.xml" Id="Rb67843708f4e4ede" /><Relationship Type="http://schemas.openxmlformats.org/officeDocument/2006/relationships/officeDocument" Target="/ppt/presentation.xml" Id="Rbb43c5006d2e46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57aeabc1f047e1"/>
  </p:sldMasterIdLst>
  <p:notesMasterIdLst>
    <p:notesMasterId xmlns:r="http://schemas.openxmlformats.org/officeDocument/2006/relationships" r:id="R9845b802de5e4f83"/>
  </p:notesMasterIdLst>
  <p:sldIdLst>
    <p:sldId xmlns:r="http://schemas.openxmlformats.org/officeDocument/2006/relationships" id="256" r:id="R0983b20f0c2e419f"/>
    <p:sldId xmlns:r="http://schemas.openxmlformats.org/officeDocument/2006/relationships" id="257" r:id="R1a972652b14c4d43"/>
    <p:sldId xmlns:r="http://schemas.openxmlformats.org/officeDocument/2006/relationships" id="258" r:id="R1c7c60ea55694941"/>
    <p:sldId xmlns:r="http://schemas.openxmlformats.org/officeDocument/2006/relationships" id="259" r:id="R53169806fba94636"/>
    <p:sldId xmlns:r="http://schemas.openxmlformats.org/officeDocument/2006/relationships" id="260" r:id="Rdf6371c272b04348"/>
    <p:sldId xmlns:r="http://schemas.openxmlformats.org/officeDocument/2006/relationships" id="261" r:id="R3743647b59084bbe"/>
    <p:sldId xmlns:r="http://schemas.openxmlformats.org/officeDocument/2006/relationships" id="262" r:id="Re8971b784bd0483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b0f73d320644fc" /><Relationship Type="http://schemas.openxmlformats.org/officeDocument/2006/relationships/slideMaster" Target="/ppt/slideMasters/slideMaster1.xml" Id="R4b57aeabc1f047e1" /><Relationship Type="http://schemas.openxmlformats.org/officeDocument/2006/relationships/notesMaster" Target="/ppt/notesMasters/notesMaster1.xml" Id="R9845b802de5e4f83" /><Relationship Type="http://schemas.openxmlformats.org/officeDocument/2006/relationships/presProps" Target="/ppt/presProps.xml" Id="R30ec3a9a64294b15" /><Relationship Type="http://schemas.openxmlformats.org/officeDocument/2006/relationships/tableStyles" Target="/ppt/tableStyles.xml" Id="R6399c5b11f3a4248" /><Relationship Type="http://schemas.openxmlformats.org/officeDocument/2006/relationships/slide" Target="/ppt/slides/slide1.xml" Id="R0983b20f0c2e419f" /><Relationship Type="http://schemas.openxmlformats.org/officeDocument/2006/relationships/slide" Target="/ppt/slides/slide2.xml" Id="R1a972652b14c4d43" /><Relationship Type="http://schemas.openxmlformats.org/officeDocument/2006/relationships/slide" Target="/ppt/slides/slide3.xml" Id="R1c7c60ea55694941" /><Relationship Type="http://schemas.openxmlformats.org/officeDocument/2006/relationships/slide" Target="/ppt/slides/slide4.xml" Id="R53169806fba94636" /><Relationship Type="http://schemas.openxmlformats.org/officeDocument/2006/relationships/slide" Target="/ppt/slides/slide5.xml" Id="Rdf6371c272b04348" /><Relationship Type="http://schemas.openxmlformats.org/officeDocument/2006/relationships/slide" Target="/ppt/slides/slide6.xml" Id="R3743647b59084bbe" /><Relationship Type="http://schemas.openxmlformats.org/officeDocument/2006/relationships/slide" Target="/ppt/slides/slide7.xml" Id="Re8971b784bd048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3747beaf4049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Brightside Learning">
      <a:dk1>
        <a:srgbClr val="000000"/>
      </a:dk1>
      <a:lt1>
        <a:srgbClr val="FFFFFF"/>
      </a:lt1>
      <a:dk2>
        <a:srgbClr val="123B5D"/>
      </a:dk2>
      <a:lt2>
        <a:srgbClr val="CCD4DB"/>
      </a:lt2>
      <a:accent1>
        <a:srgbClr val="167C80"/>
      </a:accent1>
      <a:accent2>
        <a:srgbClr val="B87919"/>
      </a:accent2>
      <a:accent3>
        <a:srgbClr val="123B5D"/>
      </a:accent3>
      <a:accent4>
        <a:srgbClr val="9B3B3B"/>
      </a:accent4>
      <a:accent5>
        <a:srgbClr val="6D6A9C"/>
      </a:accent5>
      <a:accent6>
        <a:srgbClr val="4E7A55"/>
      </a:accent6>
      <a:hlink>
        <a:srgbClr val="167C80"/>
      </a:hlink>
      <a:folHlink>
        <a:srgbClr val="6D6A9C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rightside Learning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3235f3385c439d" /><Relationship Type="http://schemas.openxmlformats.org/officeDocument/2006/relationships/notesMaster" Target="/ppt/notesMasters/notesMaster1.xml" Id="Rad64eb1a967c41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6c7bb521174d6d" /><Relationship Type="http://schemas.openxmlformats.org/officeDocument/2006/relationships/notesMaster" Target="/ppt/notesMasters/notesMaster1.xml" Id="Rd1c893da859345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b3757753104902" /><Relationship Type="http://schemas.openxmlformats.org/officeDocument/2006/relationships/notesMaster" Target="/ppt/notesMasters/notesMaster1.xml" Id="Rec4437fec3f842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a338236d5643f6" /><Relationship Type="http://schemas.openxmlformats.org/officeDocument/2006/relationships/notesMaster" Target="/ppt/notesMasters/notesMaster1.xml" Id="Rb8e39b65d93b45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de692d292b4fad" /><Relationship Type="http://schemas.openxmlformats.org/officeDocument/2006/relationships/notesMaster" Target="/ppt/notesMasters/notesMaster1.xml" Id="R55b1d7eb215745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4b1a3fa8054873" /><Relationship Type="http://schemas.openxmlformats.org/officeDocument/2006/relationships/notesMaster" Target="/ppt/notesMasters/notesMaster1.xml" Id="Reb6c26edff5843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de8ae9228a4c63" /><Relationship Type="http://schemas.openxmlformats.org/officeDocument/2006/relationships/notesMaster" Target="/ppt/notesMasters/notesMaster1.xml" Id="Re9114ced1db04c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 point: The meeting is to approve course and delivery-format scheduling priorities for next quarter.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The workbook analyzes 28 cleaned sessions delivered from April through June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Limitation to disclose: The analysis covers one quarter and does not provide a demand forecast or profit calculation.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First, establish the three measures used to compare the options.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- 2.5-sample-workshop-data-analysis.xlsx: Read Me, Analysis, Data Issues, and Cleaned Sessions sheets.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 point: The scheduling decision should balance revenue, attendance, and satisfaction.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The Read Me sheet defines net revenue as gross revenue minus refunds, attendance as total attended divided by total bookings, and satisfaction as the average of stated scores.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Limitation to disclose: Net revenue does not include operating costs, and missing refund values are excluded rather than treated as zero.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With the measures defined, compare the four courses.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- 2.5-sample-workshop-data-analysis.xlsx: Read Me, Analysis, Data Issues, and Cleaned Sessions sheets.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 point: AI at Work has the strongest combination of the three measures, while Project Planning has the highest known revenue.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AI at Work records 93.9% attendance, $1,827 average known net revenue, and 4.69 satisfaction. Project Planning averages $1,968 across 6 sessions with known refunds.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Limitation to disclose: Project Planning has one session with missing refunds, one missing satisfaction score, and one capacity discrepancy.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Next, compare the tradeoff between online and in-person delivery.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- 2.5-sample-workshop-data-analysis.xlsx: Read Me, Analysis, Data Issues, and Cleaned Sessions sheets.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 point: Neither delivery format leads on every measure.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Online averages $1,719 in known net revenue, with 87.2% attendance and 4.35 satisfaction. In-person averages $1,613, with 93.1% attendance and 4.58 satisfaction.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Limitation to disclose: Course mix, fees, locations, and individual session conditions may help explain the format differences. One in-person session has unknown refunds.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these tradeoffs to set selective scheduling priorities.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- 2.5-sample-workshop-data-analysis.xlsx: Read Me, Analysis, Data Issues, and Cleaned Sessions sheets.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 point: The evidence supports selective course changes while maintaining both delivery formats.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AI at Work leads attendance and satisfaction and ranks second on known revenue. Excel Essentials has the lowest course result on all three summary measures. Online and in-person each lead on different measures.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Limitation to disclose: Project Planning's increase recommendation is marked [REVIEW] because its missing and questionable data must be resolved.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Before requesting approval, make the data limitations explicit.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- 2.5-sample-workshop-data-analysis.xlsx: Read Me, Analysis, Data Issues, and Cleaned Sessions sheets.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 point: The recommendations should be treated as provisional because three records remain unresolved and several planning inputs are absent.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S-107 lacks refunds, S-111 lacks satisfaction, and S-119 records bookings above capacity. The cleaned analysis covers 28 sessions from April through June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Limitation to disclose: The workbook does not provide operating costs, a demand forecast, comprehensive waitlists, or scheduling constraints.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Close by requesting a decision and naming the immediate data-review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- 2.5-sample-workshop-data-analysis.xlsx: Read Me, Analysis, Data Issues, and Cleaned Sessions sheets.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 point: Request approval for the provisional scheduling priorities and agreement to resolve the three data gaps before confirming the final schedule.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The recommendation reflects the course and format comparisons shown in the workbook: AI at Work is strongest overall, formats have different strengths, and Excel Essentials ranks lowest on all three course measures.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Limitation to disclose: Project Planning remains marked [REVIEW], and the workbook does not forecast demand, profit, or operational feasibility.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Invite questions and confirm whether the proposed priorities and data-review action are approved.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- 2.5-sample-workshop-data-analysis.xlsx: Read Me, Analysis, Data Issues, and Cleaned Sessions sheets.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708cd3b6b449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02ed69b55543d1" /><Relationship Type="http://schemas.openxmlformats.org/officeDocument/2006/relationships/slideLayout" Target="/ppt/slideLayouts/slideLayout1.xml" Id="R55510a61bee449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510a61bee449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Brightside Learning">
      <a:dk1>
        <a:srgbClr val="000000"/>
      </a:dk1>
      <a:lt1>
        <a:srgbClr val="FFFFFF"/>
      </a:lt1>
      <a:dk2>
        <a:srgbClr val="123B5D"/>
      </a:dk2>
      <a:lt2>
        <a:srgbClr val="CCD4DB"/>
      </a:lt2>
      <a:accent1>
        <a:srgbClr val="167C80"/>
      </a:accent1>
      <a:accent2>
        <a:srgbClr val="B87919"/>
      </a:accent2>
      <a:accent3>
        <a:srgbClr val="123B5D"/>
      </a:accent3>
      <a:accent4>
        <a:srgbClr val="9B3B3B"/>
      </a:accent4>
      <a:accent5>
        <a:srgbClr val="6D6A9C"/>
      </a:accent5>
      <a:accent6>
        <a:srgbClr val="4E7A55"/>
      </a:accent6>
      <a:hlink>
        <a:srgbClr val="167C80"/>
      </a:hlink>
      <a:folHlink>
        <a:srgbClr val="6D6A9C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rightside Learning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4cf2e9d0e4bfe" /><Relationship Type="http://schemas.openxmlformats.org/officeDocument/2006/relationships/notesSlide" Target="/ppt/notesSlides/notesSlide1.xml" Id="Ref07f8455e4f43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37b3a63ab4314" /><Relationship Type="http://schemas.openxmlformats.org/officeDocument/2006/relationships/notesSlide" Target="/ppt/notesSlides/notesSlide2.xml" Id="Rb689552b714c43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82f63e5274c3f" /><Relationship Type="http://schemas.openxmlformats.org/officeDocument/2006/relationships/chart" Target="/ppt/slides/charts/chart1.xml" Id="R2a8577c4825f40eb" /><Relationship Type="http://schemas.openxmlformats.org/officeDocument/2006/relationships/notesSlide" Target="/ppt/notesSlides/notesSlide3.xml" Id="R3f56341eddbe44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037884829478c" /><Relationship Type="http://schemas.openxmlformats.org/officeDocument/2006/relationships/chart" Target="/ppt/slides/charts/chart2.xml" Id="Rf373577715254302" /><Relationship Type="http://schemas.openxmlformats.org/officeDocument/2006/relationships/chart" Target="/ppt/slides/charts/chart3.xml" Id="R9be1fa2d860549a3" /><Relationship Type="http://schemas.openxmlformats.org/officeDocument/2006/relationships/chart" Target="/ppt/slides/charts/chart4.xml" Id="R15ee4c03e34a4a4b" /><Relationship Type="http://schemas.openxmlformats.org/officeDocument/2006/relationships/notesSlide" Target="/ppt/notesSlides/notesSlide4.xml" Id="R1fa8111b03b240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02d1b2d804f15" /><Relationship Type="http://schemas.openxmlformats.org/officeDocument/2006/relationships/notesSlide" Target="/ppt/notesSlides/notesSlide5.xml" Id="R7d69ff4397ad4c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38a3a10934d4b" /><Relationship Type="http://schemas.openxmlformats.org/officeDocument/2006/relationships/notesSlide" Target="/ppt/notesSlides/notesSlide6.xml" Id="R0e13d701040146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6851be7394797" /><Relationship Type="http://schemas.openxmlformats.org/officeDocument/2006/relationships/notesSlide" Target="/ppt/notesSlides/notesSlide7.xml" Id="R55ff805b53cb4d00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23B5D"/>
                </a:solidFill>
              </a:rPr>
              <a:t>Average known net revenue per session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23B5D"/>
              </a:solidFill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Average known net revenue</c:v>
          </c:tx>
          <c:spPr>
            <a:solidFill xmlns:a="http://schemas.openxmlformats.org/drawingml/2006/main">
              <a:srgbClr val="167C80"/>
            </a:solidFill>
            <a:ln xmlns:a="http://schemas.openxmlformats.org/drawingml/2006/main" w="9525">
              <a:solidFill>
                <a:srgbClr val="123B5D"/>
              </a:solidFill>
              <a:prstDash val="solid"/>
            </a:ln>
          </c:spPr>
          <c:dPt>
            <c:idx val="0"/>
            <c:spPr>
              <a:solidFill xmlns:a="http://schemas.openxmlformats.org/drawingml/2006/main">
                <a:srgbClr val="167C80"/>
              </a:solidFill>
              <a:ln xmlns:a="http://schemas.openxmlformats.org/drawingml/2006/main" w="9525">
                <a:solidFill>
                  <a:srgbClr val="123B5D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167C80"/>
              </a:solidFill>
              <a:ln xmlns:a="http://schemas.openxmlformats.org/drawingml/2006/main" w="9525">
                <a:solidFill>
                  <a:srgbClr val="123B5D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B87919"/>
              </a:solidFill>
              <a:ln xmlns:a="http://schemas.openxmlformats.org/drawingml/2006/main" w="28575">
                <a:solidFill>
                  <a:srgbClr val="123B5D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167C80"/>
              </a:solidFill>
              <a:ln xmlns:a="http://schemas.openxmlformats.org/drawingml/2006/main" w="9525">
                <a:solidFill>
                  <a:srgbClr val="123B5D"/>
                </a:solidFill>
                <a:prstDash val="solid"/>
              </a:ln>
            </c:spPr>
          </c:dPt>
          <c:cat>
            <c:strLit>
              <c:ptCount val="4"/>
              <c:pt idx="0">
                <c:v>Excel Essentials</c:v>
              </c:pt>
              <c:pt idx="1">
                <c:v>Present with Confidence</c:v>
              </c:pt>
              <c:pt idx="2">
                <c:v>AI at Work</c:v>
              </c:pt>
              <c:pt idx="3">
                <c:v>Project Planning</c:v>
              </c:pt>
            </c:strLit>
          </c:cat>
          <c:val>
            <c:numLit>
              <c:formatCode>$#,##0</c:formatCode>
              <c:ptCount val="4"/>
              <c:pt idx="0">
                <c:v>1382</c:v>
              </c:pt>
              <c:pt idx="1">
                <c:v>1539</c:v>
              </c:pt>
              <c:pt idx="2">
                <c:v>1827</c:v>
              </c:pt>
              <c:pt idx="3">
                <c:v>1968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21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CD4DB"/>
              </a:solidFill>
              <a:prstDash val="solid"/>
            </a:ln>
          </c:spPr>
        </c:majorGridlines>
        <c:numFmt formatCode="$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57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CD4D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12B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23B5D"/>
                </a:solidFill>
              </a:rPr>
              <a:t>Overall attendance rate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23B5D"/>
              </a:solidFill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Overall attendance rate</c:v>
          </c:tx>
          <c:spPr>
            <a:solidFill xmlns:a="http://schemas.openxmlformats.org/drawingml/2006/main">
              <a:srgbClr val="167C80"/>
            </a:solidFill>
            <a:ln xmlns:a="http://schemas.openxmlformats.org/drawingml/2006/main" w="9525">
              <a:solidFill>
                <a:srgbClr val="123B5D"/>
              </a:solidFill>
              <a:prstDash val="solid"/>
            </a:ln>
          </c:spPr>
          <c:dPt>
            <c:idx val="0"/>
            <c:spPr>
              <a:solidFill xmlns:a="http://schemas.openxmlformats.org/drawingml/2006/main">
                <a:srgbClr val="167C80"/>
              </a:solidFill>
              <a:ln xmlns:a="http://schemas.openxmlformats.org/drawingml/2006/main" w="9525">
                <a:solidFill>
                  <a:srgbClr val="123B5D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B87919"/>
              </a:solidFill>
              <a:ln xmlns:a="http://schemas.openxmlformats.org/drawingml/2006/main" w="28575">
                <a:solidFill>
                  <a:srgbClr val="123B5D"/>
                </a:solidFill>
                <a:prstDash val="solid"/>
              </a:ln>
            </c:spPr>
          </c:dPt>
          <c:cat>
            <c:strLit>
              <c:ptCount val="2"/>
              <c:pt idx="0">
                <c:v>Online</c:v>
              </c:pt>
              <c:pt idx="1">
                <c:v>In-person</c:v>
              </c:pt>
            </c:strLit>
          </c:cat>
          <c:val>
            <c:numLit>
              <c:formatCode>0.0"%"</c:formatCode>
              <c:ptCount val="2"/>
              <c:pt idx="0">
                <c:v>87.20538720538721</c:v>
              </c:pt>
              <c:pt idx="1">
                <c:v>93.13304721030042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21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.0&quot;%&quot;"/>
        <c:majorTickMark val="none"/>
        <c:minorTickMark val="none"/>
        <c:tickLblPos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CD4D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12B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CD4DB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23B5D"/>
                </a:solidFill>
              </a:rPr>
              <a:t>Average satisfaction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23B5D"/>
              </a:solidFill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Average satisfaction</c:v>
          </c:tx>
          <c:spPr>
            <a:solidFill xmlns:a="http://schemas.openxmlformats.org/drawingml/2006/main">
              <a:srgbClr val="167C80"/>
            </a:solidFill>
            <a:ln xmlns:a="http://schemas.openxmlformats.org/drawingml/2006/main" w="9525">
              <a:solidFill>
                <a:srgbClr val="123B5D"/>
              </a:solidFill>
              <a:prstDash val="solid"/>
            </a:ln>
          </c:spPr>
          <c:dPt>
            <c:idx val="0"/>
            <c:spPr>
              <a:solidFill xmlns:a="http://schemas.openxmlformats.org/drawingml/2006/main">
                <a:srgbClr val="167C80"/>
              </a:solidFill>
              <a:ln xmlns:a="http://schemas.openxmlformats.org/drawingml/2006/main" w="9525">
                <a:solidFill>
                  <a:srgbClr val="123B5D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B87919"/>
              </a:solidFill>
              <a:ln xmlns:a="http://schemas.openxmlformats.org/drawingml/2006/main" w="28575">
                <a:solidFill>
                  <a:srgbClr val="123B5D"/>
                </a:solidFill>
                <a:prstDash val="solid"/>
              </a:ln>
            </c:spPr>
          </c:dPt>
          <c:cat>
            <c:strLit>
              <c:ptCount val="2"/>
              <c:pt idx="0">
                <c:v>Online</c:v>
              </c:pt>
              <c:pt idx="1">
                <c:v>In-person</c:v>
              </c:pt>
            </c:strLit>
          </c:cat>
          <c:val>
            <c:numLit>
              <c:formatCode>0.00</c:formatCode>
              <c:ptCount val="2"/>
              <c:pt idx="0">
                <c:v>4.353846153846154</c:v>
              </c:pt>
              <c:pt idx="1">
                <c:v>4.578571428571429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21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.00"/>
        <c:majorTickMark val="none"/>
        <c:minorTickMark val="none"/>
        <c:tickLblPos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CD4D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12B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CD4DB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23B5D"/>
                </a:solidFill>
              </a:rPr>
              <a:t>Average known net revenue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23B5D"/>
              </a:solidFill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Average known net revenue</c:v>
          </c:tx>
          <c:spPr>
            <a:solidFill xmlns:a="http://schemas.openxmlformats.org/drawingml/2006/main">
              <a:srgbClr val="167C80"/>
            </a:solidFill>
            <a:ln xmlns:a="http://schemas.openxmlformats.org/drawingml/2006/main" w="9525">
              <a:solidFill>
                <a:srgbClr val="123B5D"/>
              </a:solidFill>
              <a:prstDash val="solid"/>
            </a:ln>
          </c:spPr>
          <c:dPt>
            <c:idx val="0"/>
            <c:spPr>
              <a:solidFill xmlns:a="http://schemas.openxmlformats.org/drawingml/2006/main">
                <a:srgbClr val="167C80"/>
              </a:solidFill>
              <a:ln xmlns:a="http://schemas.openxmlformats.org/drawingml/2006/main" w="9525">
                <a:solidFill>
                  <a:srgbClr val="123B5D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B87919"/>
              </a:solidFill>
              <a:ln xmlns:a="http://schemas.openxmlformats.org/drawingml/2006/main" w="28575">
                <a:solidFill>
                  <a:srgbClr val="123B5D"/>
                </a:solidFill>
                <a:prstDash val="solid"/>
              </a:ln>
            </c:spPr>
          </c:dPt>
          <c:cat>
            <c:strLit>
              <c:ptCount val="2"/>
              <c:pt idx="0">
                <c:v>Online</c:v>
              </c:pt>
              <c:pt idx="1">
                <c:v>In-person</c:v>
              </c:pt>
            </c:strLit>
          </c:cat>
          <c:val>
            <c:numLit>
              <c:formatCode>$#,##0</c:formatCode>
              <c:ptCount val="2"/>
              <c:pt idx="0">
                <c:v>1719</c:v>
              </c:pt>
              <c:pt idx="1">
                <c:v>1613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21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$#,##0"/>
        <c:majorTickMark val="none"/>
        <c:minorTickMark val="none"/>
        <c:tickLblPos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CD4D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12B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CD4DB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1B161F90-250A-4354-AB44-AE2A4E08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333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solidFill>
              <a:srgbClr val="167C80"/>
            </a:solidFill>
            <a:prstDash val="solid"/>
          </a:ln>
        </p:spPr>
      </p:sp>
      <p:sp>
        <p:nvSpPr>
          <p:cNvPr id="2" name="decision-eyebrow">
            <a:extLst xmlns:a="http://schemas.openxmlformats.org/drawingml/2006/main">
              <a:ext uri="{FF2B5EF4-FFF2-40B4-BE49-F238E27FC236}">
                <a16:creationId xmlns:a16="http://schemas.microsoft.com/office/drawing/2014/main" id="{D45A36D9-527A-4BCA-8601-2C6B274F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0287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DECISION NEEDED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4648E4F9-020A-4EBD-9C90-9F562EB0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81150"/>
            <a:ext cx="8382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Approve next-quarter</a:t>
            </a:r>
          </a:p>
          <a:p xmlns:a="http://schemas.openxmlformats.org/drawingml/2006/main">
            <a:pPr algn="l">
              <a:defRPr sz="4200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scheduling priorities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11DDD1DF-9200-45D6-BFA2-BB491D41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814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Which courses and delivery formats should Brightside Learning schedule more often?</a:t>
            </a:r>
          </a:p>
        </p:txBody>
      </p:sp>
      <p:sp>
        <p:nvSpPr>
          <p:cNvPr id="5" name="deck-period">
            <a:extLst xmlns:a="http://schemas.openxmlformats.org/drawingml/2006/main">
              <a:ext uri="{FF2B5EF4-FFF2-40B4-BE49-F238E27FC236}">
                <a16:creationId xmlns:a16="http://schemas.microsoft.com/office/drawing/2014/main" id="{C6C4A533-47F8-42DC-9FAB-F5DBDD61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5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570"/>
                </a:solidFill>
                <a:latin typeface="Arial"/>
                <a:ea typeface="Arial"/>
                <a:cs typeface="Arial"/>
              </a:rPr>
              <a:t>Workshop analysis | April-June 2026 | 28 cleaned sessions</a:t>
            </a:r>
          </a:p>
        </p:txBody>
      </p:sp>
    </p:spTree>
    <p:extLst>
      <p:ext uri="{BB962C8B-B14F-4D97-AF65-F5344CB8AC3E}">
        <p14:creationId xmlns:p14="http://schemas.microsoft.com/office/powerpoint/2010/main" val="8024808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37CAD7EE-0E42-42D2-A053-3926FAC4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Use three measures, not revenue alone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84E7FE-E235-4529-BCD4-B933552E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7C80"/>
            </a:solidFill>
            <a:prstDash val="solid"/>
          </a:ln>
        </p:spPr>
      </p:sp>
      <p:sp>
        <p:nvSpPr>
          <p:cNvPr id="3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F6C40D43-2EE5-46AC-AF14-2AFB9727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5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B657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metric-1-number">
            <a:extLst xmlns:a="http://schemas.openxmlformats.org/drawingml/2006/main">
              <a:ext uri="{FF2B5EF4-FFF2-40B4-BE49-F238E27FC236}">
                <a16:creationId xmlns:a16="http://schemas.microsoft.com/office/drawing/2014/main" id="{F62E68CB-A442-4067-AB62-8270D9C2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14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metric-1-name">
            <a:extLst xmlns:a="http://schemas.openxmlformats.org/drawingml/2006/main">
              <a:ext uri="{FF2B5EF4-FFF2-40B4-BE49-F238E27FC236}">
                <a16:creationId xmlns:a16="http://schemas.microsoft.com/office/drawing/2014/main" id="{D5AEFB5F-47AF-404B-94B4-42EC544C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Known net revenue</a:t>
            </a:r>
          </a:p>
        </p:txBody>
      </p:sp>
      <p:sp>
        <p:nvSpPr>
          <p:cNvPr id="6" name="metric-1-definition">
            <a:extLst xmlns:a="http://schemas.openxmlformats.org/drawingml/2006/main">
              <a:ext uri="{FF2B5EF4-FFF2-40B4-BE49-F238E27FC236}">
                <a16:creationId xmlns:a16="http://schemas.microsoft.com/office/drawing/2014/main" id="{688197E7-BE12-4543-83C5-C8F461C6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Gross revenue minus refunds</a:t>
            </a:r>
          </a:p>
        </p:txBody>
      </p:sp>
      <p:sp>
        <p:nvSpPr>
          <p:cNvPr id="7" name="metric-1-meaning">
            <a:extLst xmlns:a="http://schemas.openxmlformats.org/drawingml/2006/main">
              <a:ext uri="{FF2B5EF4-FFF2-40B4-BE49-F238E27FC236}">
                <a16:creationId xmlns:a16="http://schemas.microsoft.com/office/drawing/2014/main" id="{66595EAB-490A-4FF3-9E9D-B0E6C597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5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570"/>
                </a:solidFill>
                <a:latin typeface="Arial"/>
                <a:ea typeface="Arial"/>
                <a:cs typeface="Arial"/>
              </a:rPr>
              <a:t>Revenue retained after stated refunds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2443FA-868B-4FB6-8F8F-29414373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62100"/>
            <a:ext cx="0" cy="3524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4DB"/>
            </a:solidFill>
            <a:prstDash val="solid"/>
          </a:ln>
        </p:spPr>
      </p:sp>
      <p:sp>
        <p:nvSpPr>
          <p:cNvPr id="9" name="metric-2-number">
            <a:extLst xmlns:a="http://schemas.openxmlformats.org/drawingml/2006/main">
              <a:ext uri="{FF2B5EF4-FFF2-40B4-BE49-F238E27FC236}">
                <a16:creationId xmlns:a16="http://schemas.microsoft.com/office/drawing/2014/main" id="{F5C692FD-DB15-4550-9770-F0A591CA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466850"/>
            <a:ext cx="114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B87919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B8791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metric-2-name">
            <a:extLst xmlns:a="http://schemas.openxmlformats.org/drawingml/2006/main">
              <a:ext uri="{FF2B5EF4-FFF2-40B4-BE49-F238E27FC236}">
                <a16:creationId xmlns:a16="http://schemas.microsoft.com/office/drawing/2014/main" id="{9E3EDB04-8A0F-46B9-AA66-60DA15A5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241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Overall attendance</a:t>
            </a:r>
          </a:p>
        </p:txBody>
      </p:sp>
      <p:sp>
        <p:nvSpPr>
          <p:cNvPr id="11" name="metric-2-definition">
            <a:extLst xmlns:a="http://schemas.openxmlformats.org/drawingml/2006/main">
              <a:ext uri="{FF2B5EF4-FFF2-40B4-BE49-F238E27FC236}">
                <a16:creationId xmlns:a16="http://schemas.microsoft.com/office/drawing/2014/main" id="{04CE3B6A-046A-4B8A-B58F-748E083D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051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Total attended ÷ total bookings</a:t>
            </a:r>
          </a:p>
        </p:txBody>
      </p:sp>
      <p:sp>
        <p:nvSpPr>
          <p:cNvPr id="12" name="metric-2-meaning">
            <a:extLst xmlns:a="http://schemas.openxmlformats.org/drawingml/2006/main">
              <a:ext uri="{FF2B5EF4-FFF2-40B4-BE49-F238E27FC236}">
                <a16:creationId xmlns:a16="http://schemas.microsoft.com/office/drawing/2014/main" id="{CCB4E783-8497-42E7-9EE3-AA3D395E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195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5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570"/>
                </a:solidFill>
                <a:latin typeface="Arial"/>
                <a:ea typeface="Arial"/>
                <a:cs typeface="Arial"/>
              </a:rPr>
              <a:t>Share of booked attendees who came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8F16F8-BFC7-4C94-B486-D2D9E5F7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62100"/>
            <a:ext cx="0" cy="3524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4DB"/>
            </a:solidFill>
            <a:prstDash val="solid"/>
          </a:ln>
        </p:spPr>
      </p:sp>
      <p:sp>
        <p:nvSpPr>
          <p:cNvPr id="14" name="metric-3-number">
            <a:extLst xmlns:a="http://schemas.openxmlformats.org/drawingml/2006/main">
              <a:ext uri="{FF2B5EF4-FFF2-40B4-BE49-F238E27FC236}">
                <a16:creationId xmlns:a16="http://schemas.microsoft.com/office/drawing/2014/main" id="{CA557536-98CA-4B98-BB48-B0888538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66850"/>
            <a:ext cx="114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metric-3-name">
            <a:extLst xmlns:a="http://schemas.openxmlformats.org/drawingml/2006/main">
              <a:ext uri="{FF2B5EF4-FFF2-40B4-BE49-F238E27FC236}">
                <a16:creationId xmlns:a16="http://schemas.microsoft.com/office/drawing/2014/main" id="{666F1890-2392-44BB-A379-84BB9DA8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241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Satisfaction</a:t>
            </a:r>
          </a:p>
        </p:txBody>
      </p:sp>
      <p:sp>
        <p:nvSpPr>
          <p:cNvPr id="16" name="metric-3-definition">
            <a:extLst xmlns:a="http://schemas.openxmlformats.org/drawingml/2006/main">
              <a:ext uri="{FF2B5EF4-FFF2-40B4-BE49-F238E27FC236}">
                <a16:creationId xmlns:a16="http://schemas.microsoft.com/office/drawing/2014/main" id="{3B239E21-01D2-455B-BF5C-C0105EAC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051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Average stated score from 1 to 5</a:t>
            </a:r>
          </a:p>
        </p:txBody>
      </p:sp>
      <p:sp>
        <p:nvSpPr>
          <p:cNvPr id="17" name="metric-3-meaning">
            <a:extLst xmlns:a="http://schemas.openxmlformats.org/drawingml/2006/main">
              <a:ext uri="{FF2B5EF4-FFF2-40B4-BE49-F238E27FC236}">
                <a16:creationId xmlns:a16="http://schemas.microsoft.com/office/drawing/2014/main" id="{54519910-59B9-4373-B300-17DECFF9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195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5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570"/>
                </a:solidFill>
                <a:latin typeface="Arial"/>
                <a:ea typeface="Arial"/>
                <a:cs typeface="Arial"/>
              </a:rPr>
              <a:t>Missing scores are excluded</a:t>
            </a:r>
          </a:p>
        </p:txBody>
      </p:sp>
      <p:sp>
        <p:nvSpPr>
          <p:cNvPr id="18" name="footer-note">
            <a:extLst xmlns:a="http://schemas.openxmlformats.org/drawingml/2006/main">
              <a:ext uri="{FF2B5EF4-FFF2-40B4-BE49-F238E27FC236}">
                <a16:creationId xmlns:a16="http://schemas.microsoft.com/office/drawing/2014/main" id="{A6060203-E9A4-48BD-91B8-1730C80E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5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570"/>
                </a:solidFill>
                <a:latin typeface="Arial"/>
                <a:ea typeface="Arial"/>
                <a:cs typeface="Arial"/>
              </a:rPr>
              <a:t>Known net revenue is not profit: operating costs are not included.</a:t>
            </a:r>
          </a:p>
        </p:txBody>
      </p:sp>
    </p:spTree>
    <p:extLst>
      <p:ext uri="{BB962C8B-B14F-4D97-AF65-F5344CB8AC3E}">
        <p14:creationId xmlns:p14="http://schemas.microsoft.com/office/powerpoint/2010/main" val="1951059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6E535635-5B60-454E-AAFD-033503FD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AI at Work is strongest overall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2511D6-C4CA-4973-A58E-280812FE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7C80"/>
            </a:solidFill>
            <a:prstDash val="solid"/>
          </a:ln>
        </p:spPr>
      </p:sp>
      <p:sp>
        <p:nvSpPr>
          <p:cNvPr id="3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E8CEA4F6-01BF-478A-9F20-F67002DE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5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B657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495300" y="1409700"/>
          <a:ext xmlns:a="http://schemas.openxmlformats.org/drawingml/2006/main" cx="6858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a8577c4825f40eb"/>
          </a:graphicData>
        </a:graphic>
      </p:graphicFrame>
      <p:graphicFrame>
        <p:nvGraphicFramePr>
          <p:cNvPr id="12" name=""/>
          <p:cNvGraphicFramePr/>
          <p:nvPr/>
        </p:nvGraphicFramePr>
        <p:xfrm>
          <a:off xmlns:a="http://schemas.openxmlformats.org/drawingml/2006/main" x="7639050" y="1619250"/>
          <a:ext xmlns:a="http://schemas.openxmlformats.org/drawingml/2006/main" cx="394335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71675"/>
                <a:gridCol w="985838"/>
                <a:gridCol w="985838"/>
              </a:tblGrid>
              <a:tr h="533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Course</a:t>
                      </a:r>
                    </a:p>
                  </a:txBody>
                  <a:tcPr marL="76200" marR="76200" marT="57150" marB="57150" anchor="ctr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Attendance</a:t>
                      </a:r>
                    </a:p>
                  </a:txBody>
                  <a:tcPr marL="76200" marR="76200" marT="57150" marB="57150" anchor="ctr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Satisfaction</a:t>
                      </a:r>
                    </a:p>
                  </a:txBody>
                  <a:tcPr marL="76200" marR="76200" marT="57150" marB="57150" anchor="ctr">
                    <a:solidFill>
                      <a:srgbClr val="123B5D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Project Planning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88.8%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4.40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AI at Work</a:t>
                      </a:r>
                    </a:p>
                  </a:txBody>
                  <a:tcPr marL="76200" marR="76200" marT="47625" marB="47625" anchor="ctr">
                    <a:solidFill>
                      <a:srgbClr val="F7E9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93.9%</a:t>
                      </a:r>
                    </a:p>
                  </a:txBody>
                  <a:tcPr marL="76200" marR="76200" marT="47625" marB="47625" anchor="ctr">
                    <a:solidFill>
                      <a:srgbClr val="F7E9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4.69</a:t>
                      </a:r>
                    </a:p>
                  </a:txBody>
                  <a:tcPr marL="76200" marR="76200" marT="47625" marB="47625" anchor="ctr">
                    <a:solidFill>
                      <a:srgbClr val="F7E9C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Present with Confidence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89.9%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4.59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Excel Essentials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86.4%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4.20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ourse-takeaway">
            <a:extLst xmlns:a="http://schemas.openxmlformats.org/drawingml/2006/main">
              <a:ext uri="{FF2B5EF4-FFF2-40B4-BE49-F238E27FC236}">
                <a16:creationId xmlns:a16="http://schemas.microsoft.com/office/drawing/2014/main" id="{E0D1E96B-C672-45FB-ADBA-50A86891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91050"/>
            <a:ext cx="39433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7E9CE"/>
          </a:solidFill>
          <a:ln xmlns:a="http://schemas.openxmlformats.org/drawingml/2006/main" w="19050">
            <a:solidFill>
              <a:srgbClr val="B87919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AI at Work leads attendance (93.9%) and satisfaction (4.69).</a:t>
            </a:r>
          </a:p>
        </p:txBody>
      </p:sp>
      <p:sp>
        <p:nvSpPr>
          <p:cNvPr id="7" name="footer-note">
            <a:extLst xmlns:a="http://schemas.openxmlformats.org/drawingml/2006/main">
              <a:ext uri="{FF2B5EF4-FFF2-40B4-BE49-F238E27FC236}">
                <a16:creationId xmlns:a16="http://schemas.microsoft.com/office/drawing/2014/main" id="{7699E9B1-9AC5-40D0-B51A-E818FBB4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5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570"/>
                </a:solidFill>
                <a:latin typeface="Arial"/>
                <a:ea typeface="Arial"/>
                <a:cs typeface="Arial"/>
              </a:rPr>
              <a:t>Revenue chart includes only sessions with known refund information.</a:t>
            </a:r>
          </a:p>
        </p:txBody>
      </p:sp>
    </p:spTree>
    <p:extLst>
      <p:ext uri="{BB962C8B-B14F-4D97-AF65-F5344CB8AC3E}">
        <p14:creationId xmlns:p14="http://schemas.microsoft.com/office/powerpoint/2010/main" val="19519932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79F122D9-B57D-414C-A913-3A05B322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Each format has a different strength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119C0-1446-48CA-AA88-9A011B3E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7C80"/>
            </a:solidFill>
            <a:prstDash val="solid"/>
          </a:ln>
        </p:spPr>
      </p:sp>
      <p:sp>
        <p:nvSpPr>
          <p:cNvPr id="3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480B5123-ED9C-4859-8A07-C7B5EC9E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5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B657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457200" y="1504950"/>
          <a:ext xmlns:a="http://schemas.openxmlformats.org/drawingml/2006/main" cx="36004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73577715254302"/>
          </a:graphicData>
        </a:graphic>
      </p:graphicFrame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4400550" y="1504950"/>
          <a:ext xmlns:a="http://schemas.openxmlformats.org/drawingml/2006/main" cx="36004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e1fa2d860549a3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8343900" y="1504950"/>
          <a:ext xmlns:a="http://schemas.openxmlformats.org/drawingml/2006/main" cx="36004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5ee4c03e34a4a4b"/>
          </a:graphicData>
        </a:graphic>
      </p:graphicFrame>
      <p:sp>
        <p:nvSpPr>
          <p:cNvPr id="7" name="format-takeaway">
            <a:extLst xmlns:a="http://schemas.openxmlformats.org/drawingml/2006/main">
              <a:ext uri="{FF2B5EF4-FFF2-40B4-BE49-F238E27FC236}">
                <a16:creationId xmlns:a16="http://schemas.microsoft.com/office/drawing/2014/main" id="{7FE776F1-08D9-4BEF-BC5A-F050377F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19700"/>
            <a:ext cx="87249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CD4DB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Online leads known revenue; in-person leads attendance and satisfaction.</a:t>
            </a:r>
          </a:p>
        </p:txBody>
      </p:sp>
      <p:sp>
        <p:nvSpPr>
          <p:cNvPr id="8" name="footer-note">
            <a:extLst xmlns:a="http://schemas.openxmlformats.org/drawingml/2006/main">
              <a:ext uri="{FF2B5EF4-FFF2-40B4-BE49-F238E27FC236}">
                <a16:creationId xmlns:a16="http://schemas.microsoft.com/office/drawing/2014/main" id="{21FF95F5-F064-42F5-82A6-D197D963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5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570"/>
                </a:solidFill>
                <a:latin typeface="Arial"/>
                <a:ea typeface="Arial"/>
                <a:cs typeface="Arial"/>
              </a:rPr>
              <a:t>Revenue includes 14 online sessions and 13 in-person sessions with known refunds.</a:t>
            </a:r>
          </a:p>
        </p:txBody>
      </p:sp>
    </p:spTree>
    <p:extLst>
      <p:ext uri="{BB962C8B-B14F-4D97-AF65-F5344CB8AC3E}">
        <p14:creationId xmlns:p14="http://schemas.microsoft.com/office/powerpoint/2010/main" val="7683905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F31C4BDA-6C32-44B0-BD29-566AA1CD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Increase selectively and retain both formats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D0CC1-0EB6-4A46-BCE8-23F33DCE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7C80"/>
            </a:solidFill>
            <a:prstDash val="solid"/>
          </a:ln>
        </p:spPr>
      </p:sp>
      <p:sp>
        <p:nvSpPr>
          <p:cNvPr id="3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8B14FC0F-B5BF-4F31-987E-918C1DDE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5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B657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04850" y="1390650"/>
          <a:ext xmlns:a="http://schemas.openxmlformats.org/drawingml/2006/main" cx="1078230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95575"/>
                <a:gridCol w="2156460"/>
                <a:gridCol w="5930265"/>
              </a:tblGrid>
              <a:tr h="59599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Course or format</a:t>
                      </a:r>
                    </a:p>
                  </a:txBody>
                  <a:tcPr marL="76200" marR="76200" marT="57150" marB="57150" anchor="ctr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Priority</a:t>
                      </a:r>
                    </a:p>
                  </a:txBody>
                  <a:tcPr marL="76200" marR="76200" marT="57150" marB="57150" anchor="ctr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Workbook evidence and qualification</a:t>
                      </a:r>
                    </a:p>
                  </a:txBody>
                  <a:tcPr marL="76200" marR="76200" marT="57150" marB="57150" anchor="ctr">
                    <a:solidFill>
                      <a:srgbClr val="123B5D"/>
                    </a:solidFill>
                  </a:tcPr>
                </a:tc>
              </a:tr>
              <a:tr h="59599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AI at Work</a:t>
                      </a:r>
                    </a:p>
                  </a:txBody>
                  <a:tcPr marL="76200" marR="76200" marT="47625" marB="47625" anchor="ctr">
                    <a:solidFill>
                      <a:srgbClr val="DDEF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23B5D"/>
                          </a:solidFill>
                          <a:latin typeface="Arial"/>
                          <a:ea typeface="Arial"/>
                          <a:cs typeface="Arial"/>
                        </a:rPr>
                        <a:t>Increase</a:t>
                      </a:r>
                    </a:p>
                  </a:txBody>
                  <a:tcPr marL="76200" marR="76200" marT="47625" marB="47625" anchor="ctr">
                    <a:solidFill>
                      <a:srgbClr val="DDEF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93.9% attendance | $1,827 known revenue | 4.69 satisfaction</a:t>
                      </a:r>
                    </a:p>
                  </a:txBody>
                  <a:tcPr marL="76200" marR="76200" marT="47625" marB="47625" anchor="ctr">
                    <a:solidFill>
                      <a:srgbClr val="DDEFF0"/>
                    </a:solidFill>
                  </a:tcPr>
                </a:tc>
              </a:tr>
              <a:tr h="59599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Project Planning</a:t>
                      </a:r>
                    </a:p>
                  </a:txBody>
                  <a:tcPr marL="76200" marR="76200" marT="47625" marB="47625" anchor="ctr">
                    <a:solidFill>
                      <a:srgbClr val="F7E9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Increase [REVIEW]</a:t>
                      </a:r>
                    </a:p>
                  </a:txBody>
                  <a:tcPr marL="76200" marR="76200" marT="47625" marB="47625" anchor="ctr">
                    <a:solidFill>
                      <a:srgbClr val="F7E9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$1,968 known revenue across 6 sessions | unresolved data</a:t>
                      </a:r>
                    </a:p>
                  </a:txBody>
                  <a:tcPr marL="76200" marR="76200" marT="47625" marB="47625" anchor="ctr">
                    <a:solidFill>
                      <a:srgbClr val="F7E9CE"/>
                    </a:solidFill>
                  </a:tcPr>
                </a:tc>
              </a:tr>
              <a:tr h="59599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Present with Confidence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Maintain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89.9% attendance | $1,539 known revenue | 4.59 satisfaction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9599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Excel Essentials</a:t>
                      </a:r>
                    </a:p>
                  </a:txBody>
                  <a:tcPr marL="76200" marR="76200" marT="47625" marB="47625" anchor="ctr">
                    <a:solidFill>
                      <a:srgbClr val="F7E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Reconsider</a:t>
                      </a:r>
                    </a:p>
                  </a:txBody>
                  <a:tcPr marL="76200" marR="76200" marT="47625" marB="47625" anchor="ctr">
                    <a:solidFill>
                      <a:srgbClr val="F7E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Lowest course result on all three summary measures</a:t>
                      </a:r>
                    </a:p>
                  </a:txBody>
                  <a:tcPr marL="76200" marR="76200" marT="47625" marB="47625" anchor="ctr">
                    <a:solidFill>
                      <a:srgbClr val="F7E4E4"/>
                    </a:solidFill>
                  </a:tcPr>
                </a:tc>
              </a:tr>
              <a:tr h="59599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Online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Maintain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$1,719 known revenue | 87.2% attendance | 4.35 satisfaction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9599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In-person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Maintain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$1,613 known revenue | 93.1% attendance | 4.58 satisfaction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footer-note">
            <a:extLst xmlns:a="http://schemas.openxmlformats.org/drawingml/2006/main">
              <a:ext uri="{FF2B5EF4-FFF2-40B4-BE49-F238E27FC236}">
                <a16:creationId xmlns:a16="http://schemas.microsoft.com/office/drawing/2014/main" id="{B1AB8F6F-72B8-4F20-9BEE-6D22625B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5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570"/>
                </a:solidFill>
                <a:latin typeface="Arial"/>
                <a:ea typeface="Arial"/>
                <a:cs typeface="Arial"/>
              </a:rPr>
              <a:t>[REVIEW] Project Planning priority remains conditional until its data issues are resolved.</a:t>
            </a:r>
          </a:p>
        </p:txBody>
      </p:sp>
    </p:spTree>
    <p:extLst>
      <p:ext uri="{BB962C8B-B14F-4D97-AF65-F5344CB8AC3E}">
        <p14:creationId xmlns:p14="http://schemas.microsoft.com/office/powerpoint/2010/main" val="4668645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7EA34DCC-30EC-4EFC-8699-E7A2031A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Three unresolved records limit certainty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854C99-DA9C-40D7-9A8A-17E8A095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7C80"/>
            </a:solidFill>
            <a:prstDash val="solid"/>
          </a:ln>
        </p:spPr>
      </p:sp>
      <p:sp>
        <p:nvSpPr>
          <p:cNvPr id="3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C6F16B12-2B01-42EF-9CD6-E9E89EB0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5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B657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unresolved-label">
            <a:extLst xmlns:a="http://schemas.openxmlformats.org/drawingml/2006/main">
              <a:ext uri="{FF2B5EF4-FFF2-40B4-BE49-F238E27FC236}">
                <a16:creationId xmlns:a16="http://schemas.microsoft.com/office/drawing/2014/main" id="{9665C465-9423-4699-87B3-0730E2B4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3B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B3B3B"/>
                </a:solidFill>
                <a:latin typeface="Arial"/>
                <a:ea typeface="Arial"/>
                <a:cs typeface="Arial"/>
              </a:rPr>
              <a:t>UNRESOLVED RECORDS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66750" y="1828800"/>
          <a:ext xmlns:a="http://schemas.openxmlformats.org/drawingml/2006/main" cx="592455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36796"/>
                <a:gridCol w="1999536"/>
                <a:gridCol w="2888218"/>
              </a:tblGrid>
              <a:tr h="700088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Session</a:t>
                      </a:r>
                    </a:p>
                  </a:txBody>
                  <a:tcPr marL="76200" marR="76200" marT="57150" marB="57150" anchor="ctr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Issue</a:t>
                      </a:r>
                    </a:p>
                  </a:txBody>
                  <a:tcPr marL="76200" marR="76200" marT="57150" marB="57150" anchor="ctr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Effect on analysis</a:t>
                      </a:r>
                    </a:p>
                  </a:txBody>
                  <a:tcPr marL="76200" marR="76200" marT="57150" marB="57150" anchor="ctr">
                    <a:solidFill>
                      <a:srgbClr val="123B5D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S-107</a:t>
                      </a:r>
                    </a:p>
                  </a:txBody>
                  <a:tcPr marL="76200" marR="76200" marT="47625" marB="47625" anchor="ctr">
                    <a:solidFill>
                      <a:srgbClr val="F7E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Refunds missing</a:t>
                      </a:r>
                    </a:p>
                  </a:txBody>
                  <a:tcPr marL="76200" marR="76200" marT="47625" marB="47625" anchor="ctr">
                    <a:solidFill>
                      <a:srgbClr val="F7E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Net revenue excluded</a:t>
                      </a:r>
                    </a:p>
                  </a:txBody>
                  <a:tcPr marL="76200" marR="76200" marT="47625" marB="47625" anchor="ctr">
                    <a:solidFill>
                      <a:srgbClr val="F7E4E4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S-111</a:t>
                      </a:r>
                    </a:p>
                  </a:txBody>
                  <a:tcPr marL="76200" marR="76200" marT="47625" marB="47625" anchor="ctr">
                    <a:solidFill>
                      <a:srgbClr val="F7E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Satisfaction missing</a:t>
                      </a:r>
                    </a:p>
                  </a:txBody>
                  <a:tcPr marL="76200" marR="76200" marT="47625" marB="47625" anchor="ctr">
                    <a:solidFill>
                      <a:srgbClr val="F7E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Score excluded from average</a:t>
                      </a:r>
                    </a:p>
                  </a:txBody>
                  <a:tcPr marL="76200" marR="76200" marT="47625" marB="47625" anchor="ctr">
                    <a:solidFill>
                      <a:srgbClr val="F7E4E4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S-119</a:t>
                      </a:r>
                    </a:p>
                  </a:txBody>
                  <a:tcPr marL="76200" marR="76200" marT="47625" marB="47625" anchor="ctr">
                    <a:solidFill>
                      <a:srgbClr val="F7E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23 bookings; capacity 20</a:t>
                      </a:r>
                    </a:p>
                  </a:txBody>
                  <a:tcPr marL="76200" marR="76200" marT="47625" marB="47625" anchor="ctr">
                    <a:solidFill>
                      <a:srgbClr val="F7E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Capacity figure needs review</a:t>
                      </a:r>
                    </a:p>
                  </a:txBody>
                  <a:tcPr marL="76200" marR="76200" marT="47625" marB="47625" anchor="ctr">
                    <a:solidFill>
                      <a:srgbClr val="F7E4E4"/>
                    </a:solidFill>
                  </a:tcPr>
                </a:tc>
              </a:tr>
            </a:tbl>
          </a:graphicData>
        </a:graphic>
      </p:graphicFrame>
      <p:sp>
        <p:nvSpPr>
          <p:cNvPr id="6" name="cannot-answer-label">
            <a:extLst xmlns:a="http://schemas.openxmlformats.org/drawingml/2006/main">
              <a:ext uri="{FF2B5EF4-FFF2-40B4-BE49-F238E27FC236}">
                <a16:creationId xmlns:a16="http://schemas.microsoft.com/office/drawing/2014/main" id="{F246EF9F-DA49-4D40-87E9-2C1D6883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4097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THE WORKBOOK CANNOT ANSWER</a:t>
            </a:r>
          </a:p>
        </p:txBody>
      </p:sp>
      <p:sp>
        <p:nvSpPr>
          <p:cNvPr id="7" name="analysis-limits">
            <a:extLst xmlns:a="http://schemas.openxmlformats.org/drawingml/2006/main">
              <a:ext uri="{FF2B5EF4-FFF2-40B4-BE49-F238E27FC236}">
                <a16:creationId xmlns:a16="http://schemas.microsoft.com/office/drawing/2014/main" id="{D8E18E62-C9B3-431D-B532-39B71EB5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66900"/>
            <a:ext cx="45339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76200" bIns="3810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>
              <a:lnSpc>
                <a:spcPct val="105000"/>
              </a:lnSpc>
              <a:spcAft>
                <a:spcPts val="12"/>
              </a:spcAft>
              <a:buNone/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12B"/>
                </a:solidFill>
                <a:latin typeface="Arial"/>
                <a:ea typeface="Arial"/>
                <a:cs typeface="Arial"/>
              </a:rPr>
              <a:t>Profit: operating costs are not included</a:t>
            </a:r>
          </a:p>
          <a:p xmlns:a="http://schemas.openxmlformats.org/drawingml/2006/main">
            <a:pPr marL="24" indent="-14">
              <a:lnSpc>
                <a:spcPct val="105000"/>
              </a:lnSpc>
              <a:spcAft>
                <a:spcPts val="12"/>
              </a:spcAft>
              <a:buNone/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12B"/>
                </a:solidFill>
                <a:latin typeface="Arial"/>
                <a:ea typeface="Arial"/>
                <a:cs typeface="Arial"/>
              </a:rPr>
              <a:t>Future demand: no forecast or comprehensive waitlist data</a:t>
            </a:r>
          </a:p>
          <a:p xmlns:a="http://schemas.openxmlformats.org/drawingml/2006/main">
            <a:pPr marL="24" indent="-14">
              <a:lnSpc>
                <a:spcPct val="105000"/>
              </a:lnSpc>
              <a:spcAft>
                <a:spcPts val="12"/>
              </a:spcAft>
              <a:buNone/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12B"/>
                </a:solidFill>
                <a:latin typeface="Arial"/>
                <a:ea typeface="Arial"/>
                <a:cs typeface="Arial"/>
              </a:rPr>
              <a:t>Operational feasibility: no availability or scheduling constraints</a:t>
            </a:r>
          </a:p>
        </p:txBody>
      </p:sp>
      <p:sp>
        <p:nvSpPr>
          <p:cNvPr id="8" name="period-limit">
            <a:extLst xmlns:a="http://schemas.openxmlformats.org/drawingml/2006/main">
              <a:ext uri="{FF2B5EF4-FFF2-40B4-BE49-F238E27FC236}">
                <a16:creationId xmlns:a16="http://schemas.microsoft.com/office/drawing/2014/main" id="{59E15D64-A9F5-426D-A914-2D0F4AE7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48250"/>
            <a:ext cx="101346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CD4DB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The evidence covers 28 cleaned sessions from April through June 2026.</a:t>
            </a:r>
          </a:p>
        </p:txBody>
      </p:sp>
      <p:sp>
        <p:nvSpPr>
          <p:cNvPr id="9" name="footer-note">
            <a:extLst xmlns:a="http://schemas.openxmlformats.org/drawingml/2006/main">
              <a:ext uri="{FF2B5EF4-FFF2-40B4-BE49-F238E27FC236}">
                <a16:creationId xmlns:a16="http://schemas.microsoft.com/office/drawing/2014/main" id="{9A0E9A40-5990-4B64-8ED6-DF16AB4A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5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570"/>
                </a:solidFill>
                <a:latin typeface="Arial"/>
                <a:ea typeface="Arial"/>
                <a:cs typeface="Arial"/>
              </a:rPr>
              <a:t>Course mix, fees, locations, and session conditions may also affect format comparisons.</a:t>
            </a:r>
          </a:p>
        </p:txBody>
      </p:sp>
    </p:spTree>
    <p:extLst>
      <p:ext uri="{BB962C8B-B14F-4D97-AF65-F5344CB8AC3E}">
        <p14:creationId xmlns:p14="http://schemas.microsoft.com/office/powerpoint/2010/main" val="4002432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9934AB6C-BFDD-44AF-85DB-E8FF8AE7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Approve priorities, then close three data gaps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E95E36-234E-457A-86BB-C28CD10D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7C80"/>
            </a:solidFill>
            <a:prstDash val="solid"/>
          </a:ln>
        </p:spPr>
      </p:sp>
      <p:sp>
        <p:nvSpPr>
          <p:cNvPr id="3" name="slide-7-number">
            <a:extLst xmlns:a="http://schemas.openxmlformats.org/drawingml/2006/main">
              <a:ext uri="{FF2B5EF4-FFF2-40B4-BE49-F238E27FC236}">
                <a16:creationId xmlns:a16="http://schemas.microsoft.com/office/drawing/2014/main" id="{00A436EE-6ADB-4AC5-85F0-30B6A110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5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B657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decision-request-label">
            <a:extLst xmlns:a="http://schemas.openxmlformats.org/drawingml/2006/main">
              <a:ext uri="{FF2B5EF4-FFF2-40B4-BE49-F238E27FC236}">
                <a16:creationId xmlns:a16="http://schemas.microsoft.com/office/drawing/2014/main" id="{B04F2397-547B-414B-A415-6C0267A3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REQUESTED DECISION</a:t>
            </a:r>
          </a:p>
        </p:txBody>
      </p:sp>
      <p:sp>
        <p:nvSpPr>
          <p:cNvPr id="5" name="decision-bullets">
            <a:extLst xmlns:a="http://schemas.openxmlformats.org/drawingml/2006/main">
              <a:ext uri="{FF2B5EF4-FFF2-40B4-BE49-F238E27FC236}">
                <a16:creationId xmlns:a16="http://schemas.microsoft.com/office/drawing/2014/main" id="{0706F3DD-E88A-4352-9C0B-9143B6EA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6477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76200" bIns="3810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>
              <a:lnSpc>
                <a:spcPct val="105000"/>
              </a:lnSpc>
              <a:spcAft>
                <a:spcPts val="12"/>
              </a:spcAft>
              <a:buNone/>
              <a:defRPr sz="18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12B"/>
                </a:solidFill>
                <a:latin typeface="Arial"/>
                <a:ea typeface="Arial"/>
                <a:cs typeface="Arial"/>
              </a:rPr>
              <a:t>Increase AI at Work</a:t>
            </a:r>
          </a:p>
          <a:p xmlns:a="http://schemas.openxmlformats.org/drawingml/2006/main">
            <a:pPr marL="24" indent="-14">
              <a:lnSpc>
                <a:spcPct val="105000"/>
              </a:lnSpc>
              <a:spcAft>
                <a:spcPts val="12"/>
              </a:spcAft>
              <a:buNone/>
              <a:defRPr sz="18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12B"/>
                </a:solidFill>
                <a:latin typeface="Arial"/>
                <a:ea typeface="Arial"/>
                <a:cs typeface="Arial"/>
              </a:rPr>
              <a:t>Conditionally increase Project Planning [REVIEW]</a:t>
            </a:r>
          </a:p>
          <a:p xmlns:a="http://schemas.openxmlformats.org/drawingml/2006/main">
            <a:pPr marL="24" indent="-14">
              <a:lnSpc>
                <a:spcPct val="105000"/>
              </a:lnSpc>
              <a:spcAft>
                <a:spcPts val="12"/>
              </a:spcAft>
              <a:buNone/>
              <a:defRPr sz="18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12B"/>
                </a:solidFill>
                <a:latin typeface="Arial"/>
                <a:ea typeface="Arial"/>
                <a:cs typeface="Arial"/>
              </a:rPr>
              <a:t>Maintain Present with Confidence</a:t>
            </a:r>
          </a:p>
          <a:p xmlns:a="http://schemas.openxmlformats.org/drawingml/2006/main">
            <a:pPr marL="24" indent="-14">
              <a:lnSpc>
                <a:spcPct val="105000"/>
              </a:lnSpc>
              <a:spcAft>
                <a:spcPts val="12"/>
              </a:spcAft>
              <a:buNone/>
              <a:defRPr sz="18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12B"/>
                </a:solidFill>
                <a:latin typeface="Arial"/>
                <a:ea typeface="Arial"/>
                <a:cs typeface="Arial"/>
              </a:rPr>
              <a:t>Reconsider Excel Essentials</a:t>
            </a:r>
          </a:p>
          <a:p xmlns:a="http://schemas.openxmlformats.org/drawingml/2006/main">
            <a:pPr marL="24" indent="-14">
              <a:lnSpc>
                <a:spcPct val="105000"/>
              </a:lnSpc>
              <a:spcAft>
                <a:spcPts val="12"/>
              </a:spcAft>
              <a:buNone/>
              <a:defRPr sz="18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12B"/>
                </a:solidFill>
                <a:latin typeface="Arial"/>
                <a:ea typeface="Arial"/>
                <a:cs typeface="Arial"/>
              </a:rPr>
              <a:t>Maintain both online and in-person delivery</a:t>
            </a:r>
          </a:p>
        </p:txBody>
      </p:sp>
      <p:sp>
        <p:nvSpPr>
          <p:cNvPr id="6" name="next-action-box">
            <a:extLst xmlns:a="http://schemas.openxmlformats.org/drawingml/2006/main">
              <a:ext uri="{FF2B5EF4-FFF2-40B4-BE49-F238E27FC236}">
                <a16:creationId xmlns:a16="http://schemas.microsoft.com/office/drawing/2014/main" id="{461D332C-2516-4489-9437-A63584D3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09750"/>
            <a:ext cx="3886200" cy="3181350"/>
          </a:xfrm>
          <a:prstGeom xmlns:a="http://schemas.openxmlformats.org/drawingml/2006/main" prst="roundRect">
            <a:avLst>
              <a:gd name="adj" fmla="val 53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23B5D"/>
            </a:solidFill>
            <a:prstDash val="solid"/>
          </a:ln>
        </p:spPr>
      </p:sp>
      <p:sp>
        <p:nvSpPr>
          <p:cNvPr id="7" name="next-action-label">
            <a:extLst xmlns:a="http://schemas.openxmlformats.org/drawingml/2006/main">
              <a:ext uri="{FF2B5EF4-FFF2-40B4-BE49-F238E27FC236}">
                <a16:creationId xmlns:a16="http://schemas.microsoft.com/office/drawing/2014/main" id="{C446F455-F56B-4A70-BC6D-1054ADA8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33600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879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7919"/>
                </a:solidFill>
                <a:latin typeface="Arial"/>
                <a:ea typeface="Arial"/>
                <a:cs typeface="Arial"/>
              </a:rPr>
              <a:t>NEXT ACTION</a:t>
            </a:r>
          </a:p>
        </p:txBody>
      </p:sp>
      <p:sp>
        <p:nvSpPr>
          <p:cNvPr id="8" name="next-action-text">
            <a:extLst xmlns:a="http://schemas.openxmlformats.org/drawingml/2006/main">
              <a:ext uri="{FF2B5EF4-FFF2-40B4-BE49-F238E27FC236}">
                <a16:creationId xmlns:a16="http://schemas.microsoft.com/office/drawing/2014/main" id="{8AC30653-7C48-4999-9683-27F477E0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24150"/>
            <a:ext cx="32766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Resolve S-107, S-111,</a:t>
            </a:r>
          </a:p>
          <a:p xmlns:a="http://schemas.openxmlformats.org/drawingml/2006/main">
            <a:pPr algn="ctr">
              <a:defRPr sz="2175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and S-119 before the</a:t>
            </a:r>
          </a:p>
          <a:p xmlns:a="http://schemas.openxmlformats.org/drawingml/2006/main">
            <a:pPr algn="ctr">
              <a:defRPr sz="2175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final schedule is confirmed.</a:t>
            </a:r>
          </a:p>
        </p:txBody>
      </p:sp>
      <p:sp>
        <p:nvSpPr>
          <p:cNvPr id="9" name="footer-note">
            <a:extLst xmlns:a="http://schemas.openxmlformats.org/drawingml/2006/main">
              <a:ext uri="{FF2B5EF4-FFF2-40B4-BE49-F238E27FC236}">
                <a16:creationId xmlns:a16="http://schemas.microsoft.com/office/drawing/2014/main" id="{9FF9BB25-B2A2-49AA-81BC-742AFC10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5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570"/>
                </a:solidFill>
                <a:latin typeface="Arial"/>
                <a:ea typeface="Arial"/>
                <a:cs typeface="Arial"/>
              </a:rPr>
              <a:t>Decision requested: approve the provisional priorities and the required data review.</a:t>
            </a:r>
          </a:p>
        </p:txBody>
      </p:sp>
    </p:spTree>
    <p:extLst>
      <p:ext uri="{BB962C8B-B14F-4D97-AF65-F5344CB8AC3E}">
        <p14:creationId xmlns:p14="http://schemas.microsoft.com/office/powerpoint/2010/main" val="266756871"/>
      </p:ext>
    </p:extLst>
  </p:cSld>
</p:sld>
</file>

<file path=ppt/theme/theme1.xml><?xml version="1.0" encoding="utf-8"?>
<a:theme xmlns:a="http://schemas.openxmlformats.org/drawingml/2006/main" name="ChatGPT">
  <a:themeElements>
    <a:clrScheme name="Brightside Learning">
      <a:dk1>
        <a:srgbClr val="000000"/>
      </a:dk1>
      <a:lt1>
        <a:srgbClr val="FFFFFF"/>
      </a:lt1>
      <a:dk2>
        <a:srgbClr val="123B5D"/>
      </a:dk2>
      <a:lt2>
        <a:srgbClr val="CCD4DB"/>
      </a:lt2>
      <a:accent1>
        <a:srgbClr val="167C80"/>
      </a:accent1>
      <a:accent2>
        <a:srgbClr val="B87919"/>
      </a:accent2>
      <a:accent3>
        <a:srgbClr val="123B5D"/>
      </a:accent3>
      <a:accent4>
        <a:srgbClr val="9B3B3B"/>
      </a:accent4>
      <a:accent5>
        <a:srgbClr val="6D6A9C"/>
      </a:accent5>
      <a:accent6>
        <a:srgbClr val="4E7A55"/>
      </a:accent6>
      <a:hlink>
        <a:srgbClr val="167C80"/>
      </a:hlink>
      <a:folHlink>
        <a:srgbClr val="6D6A9C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rightside Learning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2026-07-31T05:35:34.9100000Z</dcterms:created>
  <dcterms:modified xsi:type="dcterms:W3CDTF">2026-07-31T05:35:34.9100000Z</dcterms:modified>
</coreProperties>
</file>